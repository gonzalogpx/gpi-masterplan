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" cy="420624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4572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VISIÓN FAMILIAR · MAYO 2026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109728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idea,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familia,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oportunidad.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77240" y="36576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sistema operativo del asesor financiero independiente en LATAM.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4160520"/>
            <a:ext cx="137160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GPI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Gomez Pizarro Intelligence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B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mis hijos.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" cy="42062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QUÉ SE TRATA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solo un negocio.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construir algo que perdure.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no existía. Hacer aparecer en el mundo lo que hoy es solo una idea en una conversación.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3774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780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Generar empleo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25780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trabajar nosotros. Crear puestos de calidad para gente que se sume — empezando por la familia.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6616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Cumplir un sueño compartido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32588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tenemos cuando hablamos en familia de "qué lindo sería". Esto es el cuándo: el cuándo es ahora.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56616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5780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Dejar huella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257800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queda cuando ya no estamos. La empresa, los aprendizajes, lo que aprendieron los hijos de los hijos.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tiempo del asesor financiero independiente se va en tareas administrativas que no escalan.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 COME EL DÍA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informes mensuales para cada cliente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reuniones, releer historiales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novedades de mercado relevantes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seguimiento de pagos de cupones, vencimientos, dividendos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órdenes a la mesa, controlar saldos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notas de calls, redactar follow-ups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de no olvidarse de nadie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"Tiempo que no factura mejor, no escala, y no le mejora la vida al cliente."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fuerzas convergen en este momento.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agéntica madura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de 2026 ya ejecutan workflows complejos con supervisión humana. Lo que en 2023 era demo, hoy es producción. Gartner: 40% de las apps empresariales tendrán agentes IA específicos en 2026.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5544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SaaS paga premium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6616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Greylock, NEA y SignalFire están financiando "vertical AI" antes que horizontal. Series A en 2026 piden menos ARR (USD 1.2M vs 2M+) pero exigen retention casi sin churn. El moat es el dominio.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55448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Argentina vuelve al mapa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28346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Disinflación, blanqueo, RIGI, FDI creciente. Capital nuevo entrando, asesores recibiendo flujos, demanda de servicios profesionales en crecimiento. La ventana se abre.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DEL MUNDO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 está crowded. LATAM está virgen.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3017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 — Saturado y consolidando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· Zocks · Zeplyn · Altitude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levantadas en 2025: USD 13.8M (Zocks)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generalizado a "AI Operating System" en 2026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RIA con USD 700M, eliminará la mayoría de asesores humanos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Inglés. SEC/FINRA. No hablan rioplatense, no entienden Lecap.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54480"/>
            <a:ext cx="73152" cy="3017520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LATAM — Virgen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productos AI-native para asesores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tecnológicos (Inviu, IOL, Cocos): plataforma básica, sin IA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Inviu: 100-200 asesores afiliados, no es competidor — categoría distinta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+50.000 asesores potenciales en la región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cómoda. No eterna.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plataforma.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90% del trabajo del asesor, resuelto.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módulos integrados. Un agente IA que ve todo. El asesor decide siempre.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1965960" cy="1005840"/>
          </a:xfrm>
          <a:prstGeom prst="rect">
            <a:avLst/>
          </a:prstGeom>
          <a:solidFill>
            <a:srgbClr val="061829"/>
          </a:solidFill>
          <a:ln w="635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916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de clientes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3209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Cupones, transferencias, saldos. El agente prioriza.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2606040"/>
            <a:ext cx="1965960" cy="1005840"/>
          </a:xfrm>
          <a:prstGeom prst="rect">
            <a:avLst/>
          </a:prstGeom>
          <a:solidFill>
            <a:srgbClr val="061829"/>
          </a:solidFill>
          <a:ln w="6350">
            <a:solidFill>
              <a:srgbClr val="B8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8336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88336" y="2916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de mercado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88336" y="3209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Filtradas por relevancia para cada cliente.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0016" y="2606040"/>
            <a:ext cx="1965960" cy="1005840"/>
          </a:xfrm>
          <a:prstGeom prst="rect">
            <a:avLst/>
          </a:prstGeom>
          <a:solidFill>
            <a:srgbClr val="061829"/>
          </a:solidFill>
          <a:ln w="6350">
            <a:solidFill>
              <a:srgbClr val="B8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9744" y="2916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del día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9744" y="3209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Auto-actualizadas con cada decisión.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21424" y="2606040"/>
            <a:ext cx="1965960" cy="1005840"/>
          </a:xfrm>
          <a:prstGeom prst="rect">
            <a:avLst/>
          </a:prstGeom>
          <a:solidFill>
            <a:srgbClr val="061829"/>
          </a:solidFill>
          <a:ln w="6350">
            <a:solidFill>
              <a:srgbClr val="B89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31152" y="2916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clientes 360°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31152" y="3209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Cartera, historial, calls grabadas, brief, follow-up.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965960" cy="1005840"/>
          </a:xfrm>
          <a:prstGeom prst="rect">
            <a:avLst/>
          </a:prstGeom>
          <a:solidFill>
            <a:srgbClr val="061829"/>
          </a:solidFill>
          <a:ln w="635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4059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comercial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Aranceles, Pareto, métricas, salud de la cartera.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78608" y="3749040"/>
            <a:ext cx="1965960" cy="1005840"/>
          </a:xfrm>
          <a:prstGeom prst="rect">
            <a:avLst/>
          </a:prstGeom>
          <a:solidFill>
            <a:srgbClr val="061829"/>
          </a:solidFill>
          <a:ln w="6350">
            <a:solidFill>
              <a:srgbClr val="B89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88336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88336" y="4059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en vivo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688336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 índices clave, no platform de precios.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0016" y="3749040"/>
            <a:ext cx="1965960" cy="1005840"/>
          </a:xfrm>
          <a:prstGeom prst="rect">
            <a:avLst/>
          </a:prstGeom>
          <a:solidFill>
            <a:srgbClr val="061829"/>
          </a:solidFill>
          <a:ln w="6350">
            <a:solidFill>
              <a:srgbClr val="B89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3794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09744" y="4059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+ agente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9744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a mesa por WA, calculadoras, alertas.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DÍA CON EL 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siente operar adentro.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0584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9:00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00200" y="1554480"/>
            <a:ext cx="7086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645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Entrás. La tarea ya está hecha.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19385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noche el sistema se conectó a IBKR, a tu broker local, a feeds de mercado. Cuando abrís la plataforma, el agente ya sabe quién recibió cupones, quién transfirió plata, qué balances salen hoy, qué saldos están descubiertos.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00584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9:15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00200" y="2560320"/>
            <a:ext cx="7086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26517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muestra novedades priorizadas.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83080" y="29443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clientes recibieron cupón del Bopreal 2027. ¿Mando WhatsApp?". "Juan transfirió 10M, ¿armo propuesta?". "Pedro tiene saldo deudor, ¿renovamos caución?". Vos decidís. El agente ejecuta.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00584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 del día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00200" y="3566160"/>
            <a:ext cx="7086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dedicás a lo que importa.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39502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calls con clientes se graban y resumen. Los follow-ups se redactan solos. Los informes se arman a tu marca. El agente avisa cuando un precio objetivo se toca, cuando un balance sorprende, cuando un cliente te necesita.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 LO VA A HACER OTRO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moat se construye con lo que no se puede comprar.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Conocimiento de instrumentos LATAM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Lecap, Boncap, Bopreal, AL30, GD30, CEDEARs, FX bands, MEP/CCL. El producto piensa nativamente en estos instrumentos. Big Tech tardaría años.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60020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745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 con brokers locales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IBKR, Argentina Valores, IOL, Cocos. APIs, scraping cuando hace falta, parsing de PDFs y Excels. Cada integración construida es ventaja acumulada.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1546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regulatorio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CNV, UIF, AFIP/ARCA. Cada regulación que entendés y automatizás es una capa que un competidor extranjero no puede replicar sin rehacer todo.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63440" y="31546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290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y credibilidad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asesor le compra software a alguien que entiende su mundo. Vos sos del club. Eso vale más que millones de dólares de marketing.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equipo perfecto está en casa.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puestos clave de un fintech vertical AI temprano. Adentro de la familia.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65960" cy="2651760"/>
          </a:xfrm>
          <a:prstGeom prst="rect">
            <a:avLst/>
          </a:prstGeom>
          <a:solidFill>
            <a:srgbClr val="061829"/>
          </a:solidFill>
          <a:ln w="762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· Capital · Cliente cero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520440"/>
            <a:ext cx="54864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657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que vive el problema. Domino, red, MBA, capital. Validación constante.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1920240"/>
            <a:ext cx="1965960" cy="2651760"/>
          </a:xfrm>
          <a:prstGeom prst="rect">
            <a:avLst/>
          </a:prstGeom>
          <a:solidFill>
            <a:srgbClr val="061829"/>
          </a:solidFill>
          <a:ln w="7620">
            <a:solidFill>
              <a:srgbClr val="B89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· Arquitectura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15768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ingeniero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15768" y="3520440"/>
            <a:ext cx="54864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3657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integraciones, frontend, agentes. La columna vertebral de la plataforma.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0016" y="1920240"/>
            <a:ext cx="1965960" cy="2651760"/>
          </a:xfrm>
          <a:prstGeom prst="rect">
            <a:avLst/>
          </a:prstGeom>
          <a:solidFill>
            <a:srgbClr val="061829"/>
          </a:solidFill>
          <a:ln w="7620">
            <a:solidFill>
              <a:srgbClr val="B8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Quant · ML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37176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matemático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37176" y="3520440"/>
            <a:ext cx="54864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3657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portfolio, riesgo, factor analysis, retrievers, pipelines de datos de mercado.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21424" y="1920240"/>
            <a:ext cx="1965960" cy="2651760"/>
          </a:xfrm>
          <a:prstGeom prst="rect">
            <a:avLst/>
          </a:prstGeom>
          <a:solidFill>
            <a:srgbClr val="061829"/>
          </a:solidFill>
          <a:ln w="762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58584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· Research · GTM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58584" y="2606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economista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958584" y="3520440"/>
            <a:ext cx="54864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58584" y="36576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flujos, contenido de mercado, plantillas, ventas y relación con asesores.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fases. Cada una vendible por sí misma.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3774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Cartera 360° + Reportería automática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377440" y="1801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de carteras desde IBKR + brokers locales. Vista única consolidada multi-cuenta y multi-moneda. Reportes profesionales auto-generados a la marca del asesor.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60920" y="16733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200–300/mes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8229600" cy="0"/>
          </a:xfrm>
          <a:prstGeom prst="line">
            <a:avLst/>
          </a:prstGeom>
          <a:noFill/>
          <a:ln w="6350">
            <a:solidFill>
              <a:srgbClr val="D9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6–12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vivo: novedades + comunicación + meetings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77440" y="25786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novedades con propuesta del agente, integración WhatsApp Business, grabación y resumen de calls, follow-ups automáticos, tareas auto-actualizadas.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0920" y="24505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400–600/mes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8229600" cy="0"/>
          </a:xfrm>
          <a:prstGeom prst="line">
            <a:avLst/>
          </a:prstGeom>
          <a:noFill/>
          <a:ln w="6350">
            <a:solidFill>
              <a:srgbClr val="D9C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5156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12–18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de mercado + research 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377440" y="3355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 de mercado filtradas por relevancia para cada cliente, alertas de precio objetivo, calculadoras de flujo de fondos, agente de research para screening.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60920" y="3227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600–1.000/mes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8229600" cy="0"/>
          </a:xfrm>
          <a:prstGeom prst="line">
            <a:avLst/>
          </a:prstGeom>
          <a:noFill/>
          <a:ln w="6350">
            <a:solidFill>
              <a:srgbClr val="D9C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5156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18–24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7744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Operación + CRM comercial + órdenes a mesa por WhatsApp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377440" y="4133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 aranceles, métricas Pareto, salud de cartera. Asesor en gestión de cartera con teoría moderna del portafolio. Envío de órdenes a la mesa por WA.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4005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800–1.500/mes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ECONÓMICO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Suscripción mensual por asesor. Multi-tier.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200–300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45720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independiente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50 clientes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1828800"/>
          </a:xfrm>
          <a:prstGeom prst="rect">
            <a:avLst/>
          </a:prstGeom>
          <a:solidFill>
            <a:srgbClr val="0A2540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500–1.500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697480"/>
            <a:ext cx="45720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2–5 asesores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250 clientes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517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2.000–5.000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2697480"/>
            <a:ext cx="45720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/ family office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Ilimitado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pPr indent="0" marL="0">
              <a:buNone/>
            </a:pPr>
            <a:r>
              <a:rPr lang="en-US" sz="11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asesores en 18 meses</a:t>
            </a:r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720k ARR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pPr indent="0" marL="0">
              <a:buNone/>
            </a:pPr>
            <a:r>
              <a:rPr lang="en-US" sz="11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asesores</a:t>
            </a:r>
            <a:pPr indent="0" marL="0">
              <a:buNone/>
            </a:pPr>
            <a:r>
              <a:rPr lang="en-US" sz="11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indent="0" marL="0">
              <a:buNone/>
            </a:pPr>
            <a:r>
              <a:rPr lang="en-US" sz="14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1.8M ARR</a:t>
            </a:r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(benchmark Series A vertical AI 2026)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pongo, lo que pido.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310896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PONGO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semilla para los primeros 18 meses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Estimado: USD 200k–400k para llegar a USD 500k ARR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profundo del cliente y del mercado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cero, validación constante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relaciones en LATAM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 beta, primeros clientes pagos, advisors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dirección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producto y de negocio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54480"/>
            <a:ext cx="73152" cy="3108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PIDO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y compromiso real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honesta sobre dedicación posible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con vesting de 4 años, cliff de 1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más laburo pone, más equity construye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sobre límites y miedos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respuesta es "no", lo prefiero hoy a en el mes 6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Lealtad al proyecto, no obediencia al padre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Discutir, contradecir, mejorar. Eso es lo que pido.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365760" cy="36576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acuerdo económico.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modelo que venimos usando con el front-end. Funciona, da seguridad, no descapitaliza la empresa, alinea incentivos.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24688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GARANTIZADO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 8 / hora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45720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hora trabajada y registrada. Liquidación mensual. Sea cual sea el cash flow, las horas se pagan. Nadie trabaja gratis.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87452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874520"/>
            <a:ext cx="54864" cy="24688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LIMITADO · CAPITALIZACIÓN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no cobrado se capitaliza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20440" y="2971800"/>
            <a:ext cx="45720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un mes no hay caja para cubrir todas las horas, la diferencia se convierte en equity adicional o deuda preferente. Histórico transparente, conciliado mes a 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874520"/>
            <a:ext cx="54864" cy="246888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vesting · 4 años, cliff 1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55080" y="2971800"/>
            <a:ext cx="45720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108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empieza con un % objetivo según rol y dedicación. Vesting mensual después del primer año. Salida posible. Estándar de fintechs serias.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891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 · 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 que sube el ARR, suben los honorarios efectivos. Distribución de cash flow excedente o reinversión según etapa. </a:t>
            </a:r>
            <a:pPr indent="0" marL="0">
              <a:buNone/>
            </a:pPr>
            <a:r>
              <a:rPr lang="en-US" sz="1100" b="1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upside se reparte entre los que están adentro.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DECISIÓN, VISTA HONESTAMENTE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te quiero vender. Te quiero mostrar.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32461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SUMARSE A GPI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sustantivo desde día 1, mucho más alto que en cualquier corporativa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 + red ya construida = velocidad de aprendizaje × 5–10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semilla puesto, no hay que levantar plata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funciona: cash flow + exit potencial de magnitudes distintas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447288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concentrado: tiempo + ingreso + relaciones familiares en una jugada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por debajo de mercado los primeros 12–24 meses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inevitable entre hermanos (esfuerzo, equity, performance)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"Renunciar" es más complicado que en un trabajo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17320"/>
            <a:ext cx="73152" cy="3246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POR SEPARADO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2029968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estables y predecibles en multinacional o donde estés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 de aprendizaje en distintos contextos y empresas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total del éxito o fracaso de GPI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invertir en GPI desde afuera (otra alternativa)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3447288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profesional más bajo a largo plazo (empleado)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 si GPI funciona — no participás del upside familiar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 menos diferenciado, más reemplazable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▸"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ciclo de empleadores y mercado laboral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hay respuesta correcta. </a:t>
            </a:r>
            <a:pPr algn="ctr"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tu respuesta correcta.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Sumarte hoy no es para siempre. No sumarte hoy no es para nunca.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OTRO LADO DEL RIESGO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si no sale, ¿qué nos llevamos?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Mucho. Más que en cualquier trabajo equivalente. Y sin haber arriesgado un peso propio.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Aprenden a emprender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desde cero, decisiones con incertidumbre, gestión de equipo, ventas, producto. Eso no se enseña en universidad. En el mercado vale como un MBA acelerado de Stanford.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78308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116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Construyen red propia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406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Asesores, brokers, fondos, abogados, contadores, posibles inversores. La red que tarda 10 años en construirse para un empleado, ustedes la van a tener en 24 meses.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320040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290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set que los hace top 5%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3444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construyó vertical AI fintech en LATAM tiene CV pedido por cualquier banco, fintech o fondo del mundo. El "fracaso" en startup es un activo en el mercado laboral, no una deuda.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320040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290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Cero riesgo financiero propio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40680" y="3703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capital semilla lo pongo yo. Ustedes ponen tiempo cobrado a USD 8/h y capitalizado. En el peor caso, no pierden plata: pierden tiempo bien invertido.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peor escenario realista no es "perdimos dos años". Es </a:t>
            </a:r>
            <a:pPr algn="ctr" indent="0" marL="0">
              <a:buNone/>
            </a:pPr>
            <a:r>
              <a:rPr lang="en-US" sz="12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"pasamos dos años haciendo lo más educativo que se puede hacer a esta edad."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" cy="420624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TIEMPO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primer tiempo lo jugué solo.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lo quiero jugar con ustedes."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520440"/>
            <a:ext cx="1371600" cy="0"/>
          </a:xfrm>
          <a:prstGeom prst="line">
            <a:avLst/>
          </a:prstGeom>
          <a:noFill/>
          <a:ln w="12700">
            <a:solidFill>
              <a:srgbClr val="B89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703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empresas. 9 mudanzas. Una carrera. </a:t>
            </a:r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Llegué a un buen lugar. Pero el lugar bueno no es la meta — es la base. </a:t>
            </a:r>
            <a:pPr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tiene que valer la pena por sí mismo, no por lo que demuestra.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próximas 4 semanas.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Conversación honesta de cada uno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103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separado. ¿Te interesa? ¿Cuánta dedicación? ¿Cómo te imaginás tu rol y participación? El "no" honesto vale oro.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373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53212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 corta de 5–8 asesores beta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2103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mix: más sofisticados que yo, parecidos, menos sofisticados. No los contactamos todavía — solo armamos la lista.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32588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legal y societaria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Jurisdicción (Argentina vs. Uruguay vs. Delaware), tipo de sociedad, vesting, gobernanza. Charla con abogado especializado.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023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246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B89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53212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Decidir Go / No-Go en 30 días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3611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vamos: arrancamos a construir Fase 1 inmediatamente. Si no vamos: cerramos esto con honor y seguimos como estamos.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"/>
          </a:xfrm>
          <a:prstGeom prst="rect">
            <a:avLst/>
          </a:prstGeom>
          <a:solidFill>
            <a:srgbClr val="B8956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 va, va con todo. Si no va, va con honor."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 idea, una familia, una oportunidad</dc:title>
  <dc:subject>PptxGenJS Presentation</dc:subject>
  <dc:creator>Gonzalo</dc:creator>
  <cp:lastModifiedBy>Gonzalo</cp:lastModifiedBy>
  <cp:revision>1</cp:revision>
  <dcterms:created xsi:type="dcterms:W3CDTF">2026-05-07T18:45:12Z</dcterms:created>
  <dcterms:modified xsi:type="dcterms:W3CDTF">2026-05-07T18:45:12Z</dcterms:modified>
</cp:coreProperties>
</file>