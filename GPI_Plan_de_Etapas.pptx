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B89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GPI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Gomez Pizarro Intelligence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de Etapas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D4B6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la semilla al árbol — 32 meses de construcción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4206240"/>
            <a:ext cx="1371600" cy="0"/>
          </a:xfrm>
          <a:prstGeom prst="line">
            <a:avLst/>
          </a:prstGeom>
          <a:noFill/>
          <a:ln w="25400">
            <a:solidFill>
              <a:srgbClr val="B892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434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Gonzalo, Martín y Tomás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6126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B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v2.2 — Documento de trabajo familiar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B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empezar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qué este documento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sigue es el plan de cómo vamos a construir GPI etapa por etapa, con la disciplina con que se construye una start up seria a nivel mundial.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502920" cy="502920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B6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2743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mapa, no la promesa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3108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no es un compromiso de resultados. Es la disciplina con la que vamos a tomar decisiones. Cada etapa tiene criterios claros para pasar a la siguiente — sin esos criterios, no se avanza.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886200"/>
            <a:ext cx="502920" cy="502920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B6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71600" y="3886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Lenguaje universal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4251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a usar los nombres que usa el mundo VC global (Pre-Seed, Seed, Early, Growth, Expansion). El día que necesitemos hablar con un inversor, un comprador o un advisor, vamos a hablar el mismo idioma que ellos.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5029200"/>
            <a:ext cx="502920" cy="502920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5029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B6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71600" y="5029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Honestidad sobre los números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1600" y="5394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ARR proyectados son realistas para vertical SaaS LATAM, no fantasías de unicornio. Mejor partir de números honestos y sorprender para arriba que prometer y decepcionar.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19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 · Plan de Etapas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B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mapa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 meses, 5 etapas, una dirección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3383280"/>
            <a:ext cx="10972800" cy="0"/>
          </a:xfrm>
          <a:prstGeom prst="line">
            <a:avLst/>
          </a:prstGeom>
          <a:noFill/>
          <a:ln w="38100">
            <a:solidFill>
              <a:srgbClr val="1A2B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72768" y="3218688"/>
            <a:ext cx="329184" cy="329184"/>
          </a:xfrm>
          <a:prstGeom prst="ellipse">
            <a:avLst/>
          </a:prstGeom>
          <a:solidFill>
            <a:srgbClr val="B8923A"/>
          </a:solidFill>
          <a:ln w="25400">
            <a:solidFill>
              <a:srgbClr val="1A2B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28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Pre-Seed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89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Semilla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 → Ago 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880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meses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3931920"/>
            <a:ext cx="2103120" cy="1554480"/>
          </a:xfrm>
          <a:prstGeom prst="rect">
            <a:avLst/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0233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ASESORES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77240" y="4251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5–8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280160" y="4663440"/>
            <a:ext cx="914400" cy="0"/>
          </a:xfrm>
          <a:prstGeom prst="line">
            <a:avLst/>
          </a:prstGeom>
          <a:noFill/>
          <a:ln w="12700">
            <a:solidFill>
              <a:srgbClr val="B892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7548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SALIDA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77240" y="49834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USD 4–5k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767328" y="3218688"/>
            <a:ext cx="329184" cy="329184"/>
          </a:xfrm>
          <a:prstGeom prst="ellipse">
            <a:avLst/>
          </a:prstGeom>
          <a:solidFill>
            <a:srgbClr val="B8923A"/>
          </a:solidFill>
          <a:ln w="25400">
            <a:solidFill>
              <a:srgbClr val="1A2B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34640" y="1828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Seed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2834640" y="2194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89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Plántula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834640" y="2606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2026 → Mar 2027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834640" y="2880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meses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880360" y="3931920"/>
            <a:ext cx="2103120" cy="1554480"/>
          </a:xfrm>
          <a:prstGeom prst="rect">
            <a:avLst/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71800" y="40233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ASESORES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971800" y="4251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41–46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3474720" y="4663440"/>
            <a:ext cx="914400" cy="0"/>
          </a:xfrm>
          <a:prstGeom prst="line">
            <a:avLst/>
          </a:prstGeom>
          <a:noFill/>
          <a:ln w="12700">
            <a:solidFill>
              <a:srgbClr val="B892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71800" y="47548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SALIDA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971800" y="49834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USD 42–47k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961888" y="3218688"/>
            <a:ext cx="329184" cy="329184"/>
          </a:xfrm>
          <a:prstGeom prst="ellipse">
            <a:avLst/>
          </a:prstGeom>
          <a:solidFill>
            <a:srgbClr val="B8923A"/>
          </a:solidFill>
          <a:ln w="25400">
            <a:solidFill>
              <a:srgbClr val="1A2B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1828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Early Stage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5029200" y="2194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89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Brote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29200" y="2606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 2027 → Dic 2027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0" y="2880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meses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74920" y="3931920"/>
            <a:ext cx="2103120" cy="1554480"/>
          </a:xfrm>
          <a:prstGeom prst="rect">
            <a:avLst/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66360" y="40233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ASESORES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166360" y="4251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150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5669280" y="4663440"/>
            <a:ext cx="914400" cy="0"/>
          </a:xfrm>
          <a:prstGeom prst="line">
            <a:avLst/>
          </a:prstGeom>
          <a:noFill/>
          <a:ln w="12700">
            <a:solidFill>
              <a:srgbClr val="B892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66360" y="47548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SALIDA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166360" y="49834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USD 162k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8156448" y="3218688"/>
            <a:ext cx="329184" cy="329184"/>
          </a:xfrm>
          <a:prstGeom prst="ellipse">
            <a:avLst/>
          </a:prstGeom>
          <a:solidFill>
            <a:srgbClr val="B8923A"/>
          </a:solidFill>
          <a:ln w="25400">
            <a:solidFill>
              <a:srgbClr val="1A2B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23760" y="1828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7223760" y="2194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89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Tronco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223760" y="2606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 2028 → Dic 2028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223760" y="2880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meses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269480" y="3931920"/>
            <a:ext cx="2103120" cy="1554480"/>
          </a:xfrm>
          <a:prstGeom prst="rect">
            <a:avLst/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60920" y="40233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ASESORES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360920" y="4251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400–600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7863840" y="4663440"/>
            <a:ext cx="914400" cy="0"/>
          </a:xfrm>
          <a:prstGeom prst="line">
            <a:avLst/>
          </a:prstGeom>
          <a:noFill/>
          <a:ln w="12700">
            <a:solidFill>
              <a:srgbClr val="B8923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360920" y="47548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SALIDA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7360920" y="49834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USD 350–500k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10351008" y="3218688"/>
            <a:ext cx="329184" cy="329184"/>
          </a:xfrm>
          <a:prstGeom prst="ellipse">
            <a:avLst/>
          </a:prstGeom>
          <a:solidFill>
            <a:srgbClr val="B8923A"/>
          </a:solidFill>
          <a:ln w="25400">
            <a:solidFill>
              <a:srgbClr val="1A2B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418320" y="1828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Expansion</a:t>
            </a:r>
            <a:endParaRPr lang="en-US" sz="1700" dirty="0"/>
          </a:p>
        </p:txBody>
      </p:sp>
      <p:sp>
        <p:nvSpPr>
          <p:cNvPr id="51" name="Text 49"/>
          <p:cNvSpPr/>
          <p:nvPr/>
        </p:nvSpPr>
        <p:spPr>
          <a:xfrm>
            <a:off x="9418320" y="2194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89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Árbol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9418320" y="2606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 2028 → Jun 2030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9418320" y="2880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meses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9464040" y="3931920"/>
            <a:ext cx="2103120" cy="1554480"/>
          </a:xfrm>
          <a:prstGeom prst="rect">
            <a:avLst/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555480" y="40233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ASESORES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9555480" y="4251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1.500+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10058400" y="4663440"/>
            <a:ext cx="914400" cy="0"/>
          </a:xfrm>
          <a:prstGeom prst="line">
            <a:avLst/>
          </a:prstGeom>
          <a:noFill/>
          <a:ln w="12700">
            <a:solidFill>
              <a:srgbClr val="B8923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555480" y="47548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SALIDA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9555480" y="49834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USD 1.26M+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etapa tiene su propia hipótesis a probar y sus propios criterios de salida. No se salta. No se acelera. No se diluye.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19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45720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 · Plan de Etapas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B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 · 1 de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 5 etapas que usa el mundo VC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vocabulario que vamos a usar internamente y que entiende cualquier inversor, comprador o advisor del mundo.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2194560" cy="7315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148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PRE-SEED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4963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4B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Discovery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971800" y="214884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contacto con el mercado. Validás que existe un cliente dispuesto a pagar por el problema que resolvés. Producto mínimo, foco en design partners.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9875520" y="2103120"/>
            <a:ext cx="1783080" cy="731520"/>
          </a:xfrm>
          <a:prstGeom prst="rect">
            <a:avLst/>
          </a:prstGeom>
          <a:solidFill>
            <a:srgbClr val="F8F9FA"/>
          </a:solidFill>
          <a:ln w="12700">
            <a:solidFill>
              <a:srgbClr val="B892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921240" y="21488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¿Existe el cliente?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944368"/>
            <a:ext cx="2194560" cy="7315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9900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3337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4B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Product-Market Fit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971800" y="2990088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Probás que el producto resuelve un dolor real para un segmento concreto. Es la etapa más difícil — la mayoría de las start ups muere acá.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875520" y="2944368"/>
            <a:ext cx="1783080" cy="731520"/>
          </a:xfrm>
          <a:prstGeom prst="rect">
            <a:avLst/>
          </a:prstGeom>
          <a:solidFill>
            <a:srgbClr val="F8F9FA"/>
          </a:solidFill>
          <a:ln w="12700">
            <a:solidFill>
              <a:srgbClr val="B892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921240" y="2990088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¿Encaja producto y mercado?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785616"/>
            <a:ext cx="2194560" cy="7315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83133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EARLY STAGE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41788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4B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A-like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971800" y="3831336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Tenés PMF y motor de adquisición funcionando. Escalás el modelo a más clientes y más canales. Aparecen los primeros hires senior.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875520" y="3785616"/>
            <a:ext cx="1783080" cy="731520"/>
          </a:xfrm>
          <a:prstGeom prst="rect">
            <a:avLst/>
          </a:prstGeom>
          <a:solidFill>
            <a:srgbClr val="F8F9FA"/>
          </a:solidFill>
          <a:ln w="12700">
            <a:solidFill>
              <a:srgbClr val="B892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21240" y="3831336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¿Escala el motor de venta?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4626864"/>
            <a:ext cx="2194560" cy="7315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67258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502005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4B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B-like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971800" y="4672584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Liderazgo de categoría en mercado original. Métricas SaaS de salud, equipo con leads funcionales, infraestructura para internacionalizar.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9875520" y="4626864"/>
            <a:ext cx="1783080" cy="731520"/>
          </a:xfrm>
          <a:prstGeom prst="rect">
            <a:avLst/>
          </a:prstGeom>
          <a:solidFill>
            <a:srgbClr val="F8F9FA"/>
          </a:solidFill>
          <a:ln w="12700">
            <a:solidFill>
              <a:srgbClr val="B892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921240" y="4672584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¿Sos categoría?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5468112"/>
            <a:ext cx="2194560" cy="7315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55138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EXPANSION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0080" y="586130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4B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C-like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971800" y="5513832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Replicás el playbook a otros mercados/geografías. Equipo multi-país, complejidad operativa alta, valuación premium si las métricas acompañan.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9875520" y="5468112"/>
            <a:ext cx="1783080" cy="731520"/>
          </a:xfrm>
          <a:prstGeom prst="rect">
            <a:avLst/>
          </a:prstGeom>
          <a:solidFill>
            <a:srgbClr val="F8F9FA"/>
          </a:solidFill>
          <a:ln w="12700">
            <a:solidFill>
              <a:srgbClr val="B8923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921240" y="5513832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¿Funciona afuera?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19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 · Plan de Etapas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B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 · 2 de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 métricas que vamos a medir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las inventamos: son los benchmarks que usa todo el ecosistema SaaS global.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657600" cy="2103120"/>
          </a:xfrm>
          <a:prstGeom prst="rect">
            <a:avLst/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148840"/>
            <a:ext cx="73152" cy="2103120"/>
          </a:xfrm>
          <a:prstGeom prst="rect">
            <a:avLst/>
          </a:prstGeom>
          <a:solidFill>
            <a:srgbClr val="B8923A"/>
          </a:solidFill>
          <a:ln w="12700">
            <a:solidFill>
              <a:srgbClr val="B892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2402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Sean Ellis PMF Test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69748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Encuesta a usuarios: «¿Cómo te sentirías si mañana no pudieras usar más el producto?»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352044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" y="3703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40% «muy decepcionado» = PMF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39776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de salida de Seed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389120" y="2148840"/>
            <a:ext cx="3657600" cy="2103120"/>
          </a:xfrm>
          <a:prstGeom prst="rect">
            <a:avLst/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2148840"/>
            <a:ext cx="73152" cy="2103120"/>
          </a:xfrm>
          <a:prstGeom prst="rect">
            <a:avLst/>
          </a:prstGeom>
          <a:solidFill>
            <a:srgbClr val="B8923A"/>
          </a:solidFill>
          <a:ln w="12700">
            <a:solidFill>
              <a:srgbClr val="B892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22402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NRR · Net Revenue Retention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269748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Cuánta plata te dejan los clientes existentes este año vs. el anterior, sin contar nuevos.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0" y="352044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0" y="3703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100% sano · &gt; 120% world-class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39776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de Growth y Expansion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138160" y="2148840"/>
            <a:ext cx="3657600" cy="2103120"/>
          </a:xfrm>
          <a:prstGeom prst="rect">
            <a:avLst/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38160" y="2148840"/>
            <a:ext cx="73152" cy="2103120"/>
          </a:xfrm>
          <a:prstGeom prst="rect">
            <a:avLst/>
          </a:prstGeom>
          <a:solidFill>
            <a:srgbClr val="B8923A"/>
          </a:solidFill>
          <a:ln w="12700">
            <a:solidFill>
              <a:srgbClr val="B892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22402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Rule of 40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321040" y="269748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 anual % + Margen %. Si crecés rápido podés quemar; si sos rentable podés crecer despacio.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321040" y="352044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321040" y="3703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 ≥ 40 = saludable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321040" y="39776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de Growth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0080" y="4389120"/>
            <a:ext cx="3657600" cy="2103120"/>
          </a:xfrm>
          <a:prstGeom prst="rect">
            <a:avLst/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4389120"/>
            <a:ext cx="73152" cy="2103120"/>
          </a:xfrm>
          <a:prstGeom prst="rect">
            <a:avLst/>
          </a:prstGeom>
          <a:solidFill>
            <a:srgbClr val="B8923A"/>
          </a:solidFill>
          <a:ln w="12700">
            <a:solidFill>
              <a:srgbClr val="B892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44805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T2D3 (Battery Ventures)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22960" y="493776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Trayectoria de ARR post-PMF: Triple, Triple, Double, Double, Double año a año.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22960" y="576072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22960" y="59436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de SaaS unicorn-track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22960" y="62179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Referencia, no gate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389120" y="4389120"/>
            <a:ext cx="3657600" cy="2103120"/>
          </a:xfrm>
          <a:prstGeom prst="rect">
            <a:avLst/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389120" y="4389120"/>
            <a:ext cx="73152" cy="2103120"/>
          </a:xfrm>
          <a:prstGeom prst="rect">
            <a:avLst/>
          </a:prstGeom>
          <a:solidFill>
            <a:srgbClr val="B8923A"/>
          </a:solidFill>
          <a:ln w="12700">
            <a:solidFill>
              <a:srgbClr val="B8923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0" y="44805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CAC Payback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572000" y="493776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Cuántos meses tardás en recuperar lo que gastaste para adquirir un cliente.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572000" y="576072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572000" y="59436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12m bueno · &lt; 18m aceptable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0" y="62179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de Early Stage y Growth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8138160" y="4389120"/>
            <a:ext cx="3657600" cy="2103120"/>
          </a:xfrm>
          <a:prstGeom prst="rect">
            <a:avLst/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138160" y="4389120"/>
            <a:ext cx="73152" cy="2103120"/>
          </a:xfrm>
          <a:prstGeom prst="rect">
            <a:avLst/>
          </a:prstGeom>
          <a:solidFill>
            <a:srgbClr val="B8923A"/>
          </a:solidFill>
          <a:ln w="12700">
            <a:solidFill>
              <a:srgbClr val="B8923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21040" y="44805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Logo Retention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8321040" y="493776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 clientes (logos) que se quedan año a año, sin contar expansion.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8321040" y="576072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321040" y="59436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90% anual = saludable B2B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321040" y="62179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 continua, todas las etapas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19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5720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 · Plan de Etapas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B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 · 3 de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Disciplinas de ejecución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 de management que estructuran el día a día. Sin esto, cualquier plan se diluye.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6576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331720"/>
            <a:ext cx="365760" cy="365760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B6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25880" y="23317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Hipótesis central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83464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etapa intenta probar UNA hipótesis explícita, no un set difuso de objetivos. Hace todo el trabajo de foco.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2960" y="3749040"/>
            <a:ext cx="3383280" cy="411480"/>
          </a:xfrm>
          <a:prstGeom prst="rect">
            <a:avLst/>
          </a:prstGeom>
          <a:solidFill>
            <a:srgbClr val="F8F9FA"/>
          </a:solidFill>
          <a:ln w="12700">
            <a:solidFill>
              <a:srgbClr val="F8F9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7490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Pre-Seed: «hay 5–8 productores dispuestos a usar el MVP a diario».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89120" y="2148840"/>
            <a:ext cx="36576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2331720"/>
            <a:ext cx="365760" cy="365760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B6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74920" y="23317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Riesgo principal a matar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0" y="283464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etapa derrota un solo tipo de riesgo (Andreessen sequencing): Customer → Product → Market → Scale → Geographic.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0" y="3749040"/>
            <a:ext cx="3383280" cy="411480"/>
          </a:xfrm>
          <a:prstGeom prst="rect">
            <a:avLst/>
          </a:prstGeom>
          <a:solidFill>
            <a:srgbClr val="F8F9FA"/>
          </a:solidFill>
          <a:ln w="12700">
            <a:solidFill>
              <a:srgbClr val="F8F9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37490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una etapa intenta matar dos riesgos a la vez, no mata ninguno bien.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138160" y="2148840"/>
            <a:ext cx="36576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21040" y="2331720"/>
            <a:ext cx="365760" cy="365760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B6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823960" y="23317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North Star Metric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321040" y="283464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métrica que define éxito en la etapa. Toda la conversación operativa se ordena alrededor.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321040" y="3749040"/>
            <a:ext cx="3383280" cy="411480"/>
          </a:xfrm>
          <a:prstGeom prst="rect">
            <a:avLst/>
          </a:prstGeom>
          <a:solidFill>
            <a:srgbClr val="F8F9FA"/>
          </a:solidFill>
          <a:ln w="12700">
            <a:solidFill>
              <a:srgbClr val="F8F9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0" y="37490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Pre-Seed: «design partners con uso diario». Seed: «cobertura total Argentina Valores».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40080" y="4389120"/>
            <a:ext cx="36576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2960" y="4572000"/>
            <a:ext cx="365760" cy="365760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4572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B6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325880" y="45720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gates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22960" y="507492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objetivos y medibles para pasar a la siguiente etapa. Sin los números, no se avanza. No hay gris.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22960" y="5989320"/>
            <a:ext cx="3383280" cy="411480"/>
          </a:xfrm>
          <a:prstGeom prst="rect">
            <a:avLst/>
          </a:prstGeom>
          <a:solidFill>
            <a:srgbClr val="F8F9FA"/>
          </a:solidFill>
          <a:ln w="12700">
            <a:solidFill>
              <a:srgbClr val="F8F9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5989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cierra solo cuando hay 41+ asesores pagando + Sean Ellis ≥ 40% + módulo estadísticas operativo.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389120" y="4389120"/>
            <a:ext cx="36576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0" y="4572000"/>
            <a:ext cx="365760" cy="365760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0" y="4572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B6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074920" y="45720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Anti-goals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572000" y="507492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explícitamente decidimos NO perseguir aunque sea tentador. Concepto de Will Larson (Stripe, Calm).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572000" y="5989320"/>
            <a:ext cx="3383280" cy="411480"/>
          </a:xfrm>
          <a:prstGeom prst="rect">
            <a:avLst/>
          </a:prstGeom>
          <a:solidFill>
            <a:srgbClr val="F8F9FA"/>
          </a:solidFill>
          <a:ln w="12700">
            <a:solidFill>
              <a:srgbClr val="F8F9F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63440" y="5989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anti-goal: nada de cross-ALyC todavía. Aunque aparezca un amigo en Balanz pidiendo demo, esperamos.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138160" y="4389120"/>
            <a:ext cx="36576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321040" y="4572000"/>
            <a:ext cx="365760" cy="365760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21040" y="4572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B6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8823960" y="45720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OKRs trimestrales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8321040" y="507492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operativa que traduce la hipótesis de etapa en objetivos y resultados clave por trimestre.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8321040" y="5989320"/>
            <a:ext cx="3383280" cy="411480"/>
          </a:xfrm>
          <a:prstGeom prst="rect">
            <a:avLst/>
          </a:prstGeom>
          <a:solidFill>
            <a:srgbClr val="F8F9FA"/>
          </a:solidFill>
          <a:ln w="12700">
            <a:solidFill>
              <a:srgbClr val="F8F9F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412480" y="5989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Implementación, no estrategia. Se revisa cada 90 días.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19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5720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 · Plan de Etapas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B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de control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Tabla maestra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5 etapas en una mirada. El resto del documento desarrolla cada una en detalle.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03120"/>
          <a:ext cx="109728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554480"/>
                <a:gridCol w="1554480"/>
                <a:gridCol w="1371600"/>
                <a:gridCol w="2468880"/>
                <a:gridCol w="1097280"/>
                <a:gridCol w="1005840"/>
                <a:gridCol w="146304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#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ETAPA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PERÍODO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RIESGO A MATAR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NORTH STAR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ASESORES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PRECIO AVG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ARR SALIDA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8923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B4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Pre-Seed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B4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Semilla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May–Ago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meses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partners con uso diario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 50–60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 4–5k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8923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2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B4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Seed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B4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Plántula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2026–Mar 2027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meses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/ PMF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Cobertura total Argentina Valores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41–46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 85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 42–47k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8923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3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B4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Early Stage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B4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Brote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Abr–Dic 2027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meses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Initial Market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3+ ALyCs cerradas + plan empresa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 90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 162k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8923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4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B4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Growth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B4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Tronco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Ene–Dic 2028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meses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NRR ≥ 120% + Rule of 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400–600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 70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 350–500k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8923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5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B4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Expansion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B4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Árbol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 2028 + 18m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hasta Jun 2030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Geographic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 LATAM + share por país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1.500+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 70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 1.26M+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90% del valor potencial se construye entre Growth y Expansion. Las primeras tres etapas son la condición necesaria para llegar ahí.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19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 · Plan de Etapas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1 DE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Pre-Seed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D4B6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Semilla · Customer Discovery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 → AGO 2026  ·  4 MESES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3017520"/>
            <a:ext cx="10972800" cy="1188720"/>
          </a:xfrm>
          <a:prstGeom prst="rect">
            <a:avLst/>
          </a:prstGeom>
          <a:solidFill>
            <a:srgbClr val="0F1B2E"/>
          </a:solidFill>
          <a:ln w="12700">
            <a:solidFill>
              <a:srgbClr val="B892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10896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HIPÓTESIS CENTRAL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338328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Hay 5 a 8 productores de Argentina Valores dispuestos a usar diariamente un MVP que cubre las Funciones 01–05 a un precio de USD 50–60/mes.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4572000"/>
            <a:ext cx="2697480" cy="1554480"/>
          </a:xfrm>
          <a:prstGeom prst="rect">
            <a:avLst/>
          </a:prstGeom>
          <a:solidFill>
            <a:srgbClr val="0F1B2E"/>
          </a:solidFill>
          <a:ln w="12700">
            <a:solidFill>
              <a:srgbClr val="0F1B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4572000"/>
            <a:ext cx="2697480" cy="45720"/>
          </a:xfrm>
          <a:prstGeom prst="rect">
            <a:avLst/>
          </a:prstGeom>
          <a:solidFill>
            <a:srgbClr val="B8923A"/>
          </a:solidFill>
          <a:ln w="12700">
            <a:solidFill>
              <a:srgbClr val="B892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7548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A MATAR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" y="507492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¿Existe el cliente?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429000" y="4572000"/>
            <a:ext cx="2697480" cy="1554480"/>
          </a:xfrm>
          <a:prstGeom prst="rect">
            <a:avLst/>
          </a:prstGeom>
          <a:solidFill>
            <a:srgbClr val="0F1B2E"/>
          </a:solidFill>
          <a:ln w="12700">
            <a:solidFill>
              <a:srgbClr val="0F1B2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29000" y="4572000"/>
            <a:ext cx="2697480" cy="45720"/>
          </a:xfrm>
          <a:prstGeom prst="rect">
            <a:avLst/>
          </a:prstGeom>
          <a:solidFill>
            <a:srgbClr val="B8923A"/>
          </a:solidFill>
          <a:ln w="12700">
            <a:solidFill>
              <a:srgbClr val="B892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6160" y="47548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566160" y="507492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Partners con uso diario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17920" y="4572000"/>
            <a:ext cx="2697480" cy="1554480"/>
          </a:xfrm>
          <a:prstGeom prst="rect">
            <a:avLst/>
          </a:prstGeom>
          <a:solidFill>
            <a:srgbClr val="0F1B2E"/>
          </a:solidFill>
          <a:ln w="12700">
            <a:solidFill>
              <a:srgbClr val="0F1B2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4572000"/>
            <a:ext cx="2697480" cy="45720"/>
          </a:xfrm>
          <a:prstGeom prst="rect">
            <a:avLst/>
          </a:prstGeom>
          <a:solidFill>
            <a:srgbClr val="B8923A"/>
          </a:solidFill>
          <a:ln w="12700">
            <a:solidFill>
              <a:srgbClr val="B892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47548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ASESORES TARGET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355080" y="507492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a 8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(cherry-picked)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006840" y="4572000"/>
            <a:ext cx="2697480" cy="1554480"/>
          </a:xfrm>
          <a:prstGeom prst="rect">
            <a:avLst/>
          </a:prstGeom>
          <a:solidFill>
            <a:srgbClr val="0F1B2E"/>
          </a:solidFill>
          <a:ln w="12700">
            <a:solidFill>
              <a:srgbClr val="0F1B2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06840" y="4572000"/>
            <a:ext cx="2697480" cy="45720"/>
          </a:xfrm>
          <a:prstGeom prst="rect">
            <a:avLst/>
          </a:prstGeom>
          <a:solidFill>
            <a:srgbClr val="B8923A"/>
          </a:solidFill>
          <a:ln w="12700">
            <a:solidFill>
              <a:srgbClr val="B892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0" y="47548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SALIDA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144000" y="507492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USD 4 – 5 k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19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 · Plan de Etapas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1 · Pre-Seed · Semilla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Producto, equipo y criterios de salida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Y ALCANCE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funcional con datos reales (no demo). Funciones 01–05 (Paneles 1–5). Foco en cobertura del workflow básico del asesor: posiciones, instrumentos, cliente. Calidad visual desde el día 1 — el producto se evalúa con los mismos ojos con que se evalúa Bloomberg.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0080" y="2788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30632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familiar (Gonzalo + 3 hijos) + 1 a 2 contratistas técnicos. Founder-led sales: Gonzalo presenta personalmente a cada design partner.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" y="3886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&amp; INVERSIÓN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41605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Friend-priced en USD 50–60/mes, sin tiers. Inversión cap: USD 300/mes de cash externo durante 4 meses (~USD 1.2k total). El resto es tiempo capitalizado contra equity.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0" y="1554480"/>
            <a:ext cx="5212080" cy="3657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554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GATES DE SALIDA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92240" y="2011680"/>
            <a:ext cx="5120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 más design partners pagando, aunque sea simbólico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DAU/MAU &gt; 70% (uso diario, no curiosidad)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≥ 40 con design partners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Sean Ellis Test ≥ 30% «muy decepcionado»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 más casos documentados de uso real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de Seed co-validado con design partners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0" y="4434840"/>
            <a:ext cx="5212080" cy="365760"/>
          </a:xfrm>
          <a:prstGeom prst="rect">
            <a:avLst/>
          </a:prstGeom>
          <a:solidFill>
            <a:srgbClr val="B8923A"/>
          </a:solidFill>
          <a:ln w="12700">
            <a:solidFill>
              <a:srgbClr val="B892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4434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ANTI-GOALS · LO QUE NO HACEMOS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0" y="489204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de marketing pago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de plan empresa todavía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de mobile app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de contratar full-time fuera del núcleo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de IA proactiva hasta que el básico funcione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19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 · Plan de Etapas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2 DE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Seed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D4B6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Plántula · Product-Market Fit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2026 → MAR 2027  ·  7 MESES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3017520"/>
            <a:ext cx="10972800" cy="1188720"/>
          </a:xfrm>
          <a:prstGeom prst="rect">
            <a:avLst/>
          </a:prstGeom>
          <a:solidFill>
            <a:srgbClr val="0F1B2E"/>
          </a:solidFill>
          <a:ln w="12700">
            <a:solidFill>
              <a:srgbClr val="B892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10896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HIPÓTESIS CENTRAL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338328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producto madurado captura los 41–46 productores y comerciales de Argentina Valores con PMF formal probado, habilitando subir el pricing hacia USD 85/mes promedio.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4572000"/>
            <a:ext cx="2697480" cy="1554480"/>
          </a:xfrm>
          <a:prstGeom prst="rect">
            <a:avLst/>
          </a:prstGeom>
          <a:solidFill>
            <a:srgbClr val="0F1B2E"/>
          </a:solidFill>
          <a:ln w="12700">
            <a:solidFill>
              <a:srgbClr val="0F1B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4572000"/>
            <a:ext cx="2697480" cy="45720"/>
          </a:xfrm>
          <a:prstGeom prst="rect">
            <a:avLst/>
          </a:prstGeom>
          <a:solidFill>
            <a:srgbClr val="B8923A"/>
          </a:solidFill>
          <a:ln w="12700">
            <a:solidFill>
              <a:srgbClr val="B892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7548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A MATAR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" y="507492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/ PMF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¿Encaja con el mercado?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429000" y="4572000"/>
            <a:ext cx="2697480" cy="1554480"/>
          </a:xfrm>
          <a:prstGeom prst="rect">
            <a:avLst/>
          </a:prstGeom>
          <a:solidFill>
            <a:srgbClr val="0F1B2E"/>
          </a:solidFill>
          <a:ln w="12700">
            <a:solidFill>
              <a:srgbClr val="0F1B2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29000" y="4572000"/>
            <a:ext cx="2697480" cy="45720"/>
          </a:xfrm>
          <a:prstGeom prst="rect">
            <a:avLst/>
          </a:prstGeom>
          <a:solidFill>
            <a:srgbClr val="B8923A"/>
          </a:solidFill>
          <a:ln w="12700">
            <a:solidFill>
              <a:srgbClr val="B892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6160" y="47548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566160" y="507492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Cobertura total Argentina Valores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17920" y="4572000"/>
            <a:ext cx="2697480" cy="1554480"/>
          </a:xfrm>
          <a:prstGeom prst="rect">
            <a:avLst/>
          </a:prstGeom>
          <a:solidFill>
            <a:srgbClr val="0F1B2E"/>
          </a:solidFill>
          <a:ln w="12700">
            <a:solidFill>
              <a:srgbClr val="0F1B2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4572000"/>
            <a:ext cx="2697480" cy="45720"/>
          </a:xfrm>
          <a:prstGeom prst="rect">
            <a:avLst/>
          </a:prstGeom>
          <a:solidFill>
            <a:srgbClr val="B8923A"/>
          </a:solidFill>
          <a:ln w="12700">
            <a:solidFill>
              <a:srgbClr val="B892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47548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ASESORES TARGET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355080" y="507492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41 a 46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(universo total AV)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006840" y="4572000"/>
            <a:ext cx="2697480" cy="1554480"/>
          </a:xfrm>
          <a:prstGeom prst="rect">
            <a:avLst/>
          </a:prstGeom>
          <a:solidFill>
            <a:srgbClr val="0F1B2E"/>
          </a:solidFill>
          <a:ln w="12700">
            <a:solidFill>
              <a:srgbClr val="0F1B2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06840" y="4572000"/>
            <a:ext cx="2697480" cy="45720"/>
          </a:xfrm>
          <a:prstGeom prst="rect">
            <a:avLst/>
          </a:prstGeom>
          <a:solidFill>
            <a:srgbClr val="B8923A"/>
          </a:solidFill>
          <a:ln w="12700">
            <a:solidFill>
              <a:srgbClr val="B892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0" y="47548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SALIDA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144000" y="507492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USD 42 – 47 k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19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 · Plan de Etapas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2 · Seed · Plántula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gate más importante de toda la start up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Y ALCANCE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completo de Funciones 01–05 + módulo de estadísticas (medición de ROI del asesor por usar GPI: tiempo ahorrado, AUM gestionado, conversión de prospects). Este módulo se vuelve la principal herramienta de venta en Early Stage.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0080" y="2788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30632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 6 personas. Núcleo familiar consolidado en sus roles + 1 contratista técnico estable. Setup contable y legal de SaaS empresa formalizado.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" y="3886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&amp; INVERSIÓN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41605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sube progresivamente de USD 60 hacia USD 85/mes promedio durante la etapa. Inversión sostenida + costos formales de empresa. Sin capital institucional.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0" y="1554480"/>
            <a:ext cx="5212080" cy="3657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554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GATES DE SALIDA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92240" y="2011680"/>
            <a:ext cx="5120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o más asesores pagando activos (universo AV completo)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Sean Ellis Test ≥ 40% — PMF FORMAL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≥ 50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de estadísticas operativo con datos reales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retention ≥ 95% trimestral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de Early Stage validado con clientes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0" y="4434840"/>
            <a:ext cx="5212080" cy="365760"/>
          </a:xfrm>
          <a:prstGeom prst="rect">
            <a:avLst/>
          </a:prstGeom>
          <a:solidFill>
            <a:srgbClr val="B8923A"/>
          </a:solidFill>
          <a:ln w="12700">
            <a:solidFill>
              <a:srgbClr val="B892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4434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ANTI-GOALS · LO QUE NO HACEMOS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0" y="489204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de cross-ALyC todavía (eso es Early Stage)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de LATAM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de levantar capital institucional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de mobile app prematura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19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 · Plan de Etapas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3 DE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Early Stage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D4B6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Brote · Series A-like · PMF cross-canal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 2027 → DIC 2027  ·  9 MESES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3017520"/>
            <a:ext cx="10972800" cy="1188720"/>
          </a:xfrm>
          <a:prstGeom prst="rect">
            <a:avLst/>
          </a:prstGeom>
          <a:solidFill>
            <a:srgbClr val="0F1B2E"/>
          </a:solidFill>
          <a:ln w="12700">
            <a:solidFill>
              <a:srgbClr val="B892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10896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HIPÓTESIS CENTRAL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338328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playbook de Argentina Valores se replica en 3 o más ALyCs argentinas con motor de ventas funcionando y plan empresa validado.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4572000"/>
            <a:ext cx="2697480" cy="1554480"/>
          </a:xfrm>
          <a:prstGeom prst="rect">
            <a:avLst/>
          </a:prstGeom>
          <a:solidFill>
            <a:srgbClr val="0F1B2E"/>
          </a:solidFill>
          <a:ln w="12700">
            <a:solidFill>
              <a:srgbClr val="0F1B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4572000"/>
            <a:ext cx="2697480" cy="45720"/>
          </a:xfrm>
          <a:prstGeom prst="rect">
            <a:avLst/>
          </a:prstGeom>
          <a:solidFill>
            <a:srgbClr val="B8923A"/>
          </a:solidFill>
          <a:ln w="12700">
            <a:solidFill>
              <a:srgbClr val="B892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7548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A MATAR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" y="507492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Initial Market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¿Escala el motor de venta?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429000" y="4572000"/>
            <a:ext cx="2697480" cy="1554480"/>
          </a:xfrm>
          <a:prstGeom prst="rect">
            <a:avLst/>
          </a:prstGeom>
          <a:solidFill>
            <a:srgbClr val="0F1B2E"/>
          </a:solidFill>
          <a:ln w="12700">
            <a:solidFill>
              <a:srgbClr val="0F1B2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29000" y="4572000"/>
            <a:ext cx="2697480" cy="45720"/>
          </a:xfrm>
          <a:prstGeom prst="rect">
            <a:avLst/>
          </a:prstGeom>
          <a:solidFill>
            <a:srgbClr val="B8923A"/>
          </a:solidFill>
          <a:ln w="12700">
            <a:solidFill>
              <a:srgbClr val="B892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6160" y="47548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566160" y="507492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Asesores activos cross-ALyCs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17920" y="4572000"/>
            <a:ext cx="2697480" cy="1554480"/>
          </a:xfrm>
          <a:prstGeom prst="rect">
            <a:avLst/>
          </a:prstGeom>
          <a:solidFill>
            <a:srgbClr val="0F1B2E"/>
          </a:solidFill>
          <a:ln w="12700">
            <a:solidFill>
              <a:srgbClr val="0F1B2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4572000"/>
            <a:ext cx="2697480" cy="45720"/>
          </a:xfrm>
          <a:prstGeom prst="rect">
            <a:avLst/>
          </a:prstGeom>
          <a:solidFill>
            <a:srgbClr val="B8923A"/>
          </a:solidFill>
          <a:ln w="12700">
            <a:solidFill>
              <a:srgbClr val="B892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47548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ASESORES TARGET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355080" y="507492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150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(en 3+ ALyCs)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006840" y="4572000"/>
            <a:ext cx="2697480" cy="1554480"/>
          </a:xfrm>
          <a:prstGeom prst="rect">
            <a:avLst/>
          </a:prstGeom>
          <a:solidFill>
            <a:srgbClr val="0F1B2E"/>
          </a:solidFill>
          <a:ln w="12700">
            <a:solidFill>
              <a:srgbClr val="0F1B2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06840" y="4572000"/>
            <a:ext cx="2697480" cy="45720"/>
          </a:xfrm>
          <a:prstGeom prst="rect">
            <a:avLst/>
          </a:prstGeom>
          <a:solidFill>
            <a:srgbClr val="B8923A"/>
          </a:solidFill>
          <a:ln w="12700">
            <a:solidFill>
              <a:srgbClr val="B892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0" y="47548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SALIDA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144000" y="507492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USD 162 k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19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 · Plan de Etapas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3 · Early Stage · Brote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Dos motores de adquisición en paralelo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Y ALCANCE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Funciones 01–07 + Teoría Moderna de Portfolio + IA proactiva con detección de life events. Integración con Aunesa + 1–2 BackOffices más. Mobile app sujeta a corrección según evidencia de Seed.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0080" y="2788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30632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 12 personas. Primer hire externo senior (probable: ingeniería o ventas). Transición de founder-led a motor de ventas estructurado.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" y="3886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&amp; INVERSIÓN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41605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modelos paralelos: asesor individual USD 100–130/mes + plan empresa para ALyCs USD 70–90/mes/usuario con descuento por volumen. Friends &amp; family ronda chica opcional USD 250–500k @ valuación 4–6M post-money.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0" y="1554480"/>
            <a:ext cx="5212080" cy="3657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554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GATES DE SALIDA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92240" y="2011680"/>
            <a:ext cx="5120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asesores activos pagando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≥ USD 162 k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 más ALyCs cerradas con &gt; 10 asesores cada una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empresa con al menos 1 cliente cerrado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payback ≤ 12 meses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NRR ≥ 110%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retention ≥ 95% trimestral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tiers definidos y testeados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0" y="4434840"/>
            <a:ext cx="5212080" cy="365760"/>
          </a:xfrm>
          <a:prstGeom prst="rect">
            <a:avLst/>
          </a:prstGeom>
          <a:solidFill>
            <a:srgbClr val="B8923A"/>
          </a:solidFill>
          <a:ln w="12700">
            <a:solidFill>
              <a:srgbClr val="B892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4434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ANTI-GOALS · LO QUE NO HACEMOS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0" y="489204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de LATAM (eso es Expansion)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de inversor final B2C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de over-hiring antes de tracción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abandonar founder-led 100% — Gonzalo sigue cerrando claves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19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 · Plan de Etapas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4 DE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D4B6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Tronco · Series B-like · Categoría Argentina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 2028 → DIC 2028  ·  12 MESES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3017520"/>
            <a:ext cx="10972800" cy="1188720"/>
          </a:xfrm>
          <a:prstGeom prst="rect">
            <a:avLst/>
          </a:prstGeom>
          <a:solidFill>
            <a:srgbClr val="0F1B2E"/>
          </a:solidFill>
          <a:ln w="12700">
            <a:solidFill>
              <a:srgbClr val="B892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10896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HIPÓTESIS CENTRAL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338328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GPI es el estándar de facto en Argentina para asesores boutique con IA, con arquitectura lista para internacionalización y métricas SaaS de salud world-class.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4572000"/>
            <a:ext cx="2697480" cy="1554480"/>
          </a:xfrm>
          <a:prstGeom prst="rect">
            <a:avLst/>
          </a:prstGeom>
          <a:solidFill>
            <a:srgbClr val="0F1B2E"/>
          </a:solidFill>
          <a:ln w="12700">
            <a:solidFill>
              <a:srgbClr val="0F1B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4572000"/>
            <a:ext cx="2697480" cy="45720"/>
          </a:xfrm>
          <a:prstGeom prst="rect">
            <a:avLst/>
          </a:prstGeom>
          <a:solidFill>
            <a:srgbClr val="B8923A"/>
          </a:solidFill>
          <a:ln w="12700">
            <a:solidFill>
              <a:srgbClr val="B892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7548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A MATAR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" y="507492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¿Sos categoría?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429000" y="4572000"/>
            <a:ext cx="2697480" cy="1554480"/>
          </a:xfrm>
          <a:prstGeom prst="rect">
            <a:avLst/>
          </a:prstGeom>
          <a:solidFill>
            <a:srgbClr val="0F1B2E"/>
          </a:solidFill>
          <a:ln w="12700">
            <a:solidFill>
              <a:srgbClr val="0F1B2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29000" y="4572000"/>
            <a:ext cx="2697480" cy="45720"/>
          </a:xfrm>
          <a:prstGeom prst="rect">
            <a:avLst/>
          </a:prstGeom>
          <a:solidFill>
            <a:srgbClr val="B8923A"/>
          </a:solidFill>
          <a:ln w="12700">
            <a:solidFill>
              <a:srgbClr val="B892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6160" y="47548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566160" y="507492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NRR ≥ 120% + Rule of 40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17920" y="4572000"/>
            <a:ext cx="2697480" cy="1554480"/>
          </a:xfrm>
          <a:prstGeom prst="rect">
            <a:avLst/>
          </a:prstGeom>
          <a:solidFill>
            <a:srgbClr val="0F1B2E"/>
          </a:solidFill>
          <a:ln w="12700">
            <a:solidFill>
              <a:srgbClr val="0F1B2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4572000"/>
            <a:ext cx="2697480" cy="45720"/>
          </a:xfrm>
          <a:prstGeom prst="rect">
            <a:avLst/>
          </a:prstGeom>
          <a:solidFill>
            <a:srgbClr val="B8923A"/>
          </a:solidFill>
          <a:ln w="12700">
            <a:solidFill>
              <a:srgbClr val="B892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47548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ASESORES TARGET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355080" y="507492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400 a 600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006840" y="4572000"/>
            <a:ext cx="2697480" cy="1554480"/>
          </a:xfrm>
          <a:prstGeom prst="rect">
            <a:avLst/>
          </a:prstGeom>
          <a:solidFill>
            <a:srgbClr val="0F1B2E"/>
          </a:solidFill>
          <a:ln w="12700">
            <a:solidFill>
              <a:srgbClr val="0F1B2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06840" y="4572000"/>
            <a:ext cx="2697480" cy="45720"/>
          </a:xfrm>
          <a:prstGeom prst="rect">
            <a:avLst/>
          </a:prstGeom>
          <a:solidFill>
            <a:srgbClr val="B8923A"/>
          </a:solidFill>
          <a:ln w="12700">
            <a:solidFill>
              <a:srgbClr val="B892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0" y="47548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SALIDA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144000" y="507492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USD 350 – 500 k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19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 · Plan de Etapas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4 · Growth · Tronco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Liderazgo de categoría y fork de inversor final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Y ALCANCE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completo, multi-BackOffice (4 BackOffices argentinos cubiertos), módulo de coaching/scorecards, módulo enterprise para boutiques multi-asesor. A mitad de etapa: punto de decisión sobre fork hacia inversor final (B2B2C o B2C directo).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0080" y="2788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30632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a 25 personas con leads funcionales: producto, ingeniería, ventas, customer success. Gonzalo se mueve a estrategia + capital, ya no operativo full-time.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" y="3886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&amp; INVERSIÓN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41605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maduro con tiers claros, anual con descuento, módulos premium add-on. Promedio mix USD 70/mes (individual + plan empresa). Series A opcional USD 4–8M @ 25–40M post-money si se decide acelerar.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0" y="1554480"/>
            <a:ext cx="5212080" cy="3657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554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GATES DE SALIDA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92240" y="2011680"/>
            <a:ext cx="5120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a 600 asesores activos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USD 350–500 k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NRR ≥ 120%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retention ≥ 90% anual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40 cumplido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payback ≤ 18 meses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4 BackOffices argentinos integrados con SLAs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SOC2 Type 1 obtenido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sobre fork B2B2C / inversor final tomada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0" y="4434840"/>
            <a:ext cx="5212080" cy="365760"/>
          </a:xfrm>
          <a:prstGeom prst="rect">
            <a:avLst/>
          </a:prstGeom>
          <a:solidFill>
            <a:srgbClr val="B8923A"/>
          </a:solidFill>
          <a:ln w="12700">
            <a:solidFill>
              <a:srgbClr val="B892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4434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ANTI-GOALS · LO QUE NO HACEMOS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0" y="489204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de IPO talk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de empezar dos países a la vez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de saltar Uruguay como sandbox internacional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de over-hire (escalar a 25 si 18 alcanzan es trampa post-Series A)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19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 · Plan de Etapas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5 DE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Expansion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D4B6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Árbol · Series C-like · LATAM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 2028 → JUN 2030  ·  18 MESES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3017520"/>
            <a:ext cx="10972800" cy="1188720"/>
          </a:xfrm>
          <a:prstGeom prst="rect">
            <a:avLst/>
          </a:prstGeom>
          <a:solidFill>
            <a:srgbClr val="0F1B2E"/>
          </a:solidFill>
          <a:ln w="12700">
            <a:solidFill>
              <a:srgbClr val="B892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10896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HIPÓTESIS CENTRAL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338328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playbook argentino se replica en 4 mercados LATAM (Uruguay → Chile → Brasil → México) manteniendo unit economics. Brasil es la apuesta grande.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4572000"/>
            <a:ext cx="2697480" cy="1554480"/>
          </a:xfrm>
          <a:prstGeom prst="rect">
            <a:avLst/>
          </a:prstGeom>
          <a:solidFill>
            <a:srgbClr val="0F1B2E"/>
          </a:solidFill>
          <a:ln w="12700">
            <a:solidFill>
              <a:srgbClr val="0F1B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4572000"/>
            <a:ext cx="2697480" cy="45720"/>
          </a:xfrm>
          <a:prstGeom prst="rect">
            <a:avLst/>
          </a:prstGeom>
          <a:solidFill>
            <a:srgbClr val="B8923A"/>
          </a:solidFill>
          <a:ln w="12700">
            <a:solidFill>
              <a:srgbClr val="B892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7548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A MATAR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" y="507492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Geographic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¿Funciona afuera?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429000" y="4572000"/>
            <a:ext cx="2697480" cy="1554480"/>
          </a:xfrm>
          <a:prstGeom prst="rect">
            <a:avLst/>
          </a:prstGeom>
          <a:solidFill>
            <a:srgbClr val="0F1B2E"/>
          </a:solidFill>
          <a:ln w="12700">
            <a:solidFill>
              <a:srgbClr val="0F1B2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29000" y="4572000"/>
            <a:ext cx="2697480" cy="45720"/>
          </a:xfrm>
          <a:prstGeom prst="rect">
            <a:avLst/>
          </a:prstGeom>
          <a:solidFill>
            <a:srgbClr val="B8923A"/>
          </a:solidFill>
          <a:ln w="12700">
            <a:solidFill>
              <a:srgbClr val="B892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6160" y="47548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566160" y="507492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ARR LATAM + share por país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17920" y="4572000"/>
            <a:ext cx="2697480" cy="1554480"/>
          </a:xfrm>
          <a:prstGeom prst="rect">
            <a:avLst/>
          </a:prstGeom>
          <a:solidFill>
            <a:srgbClr val="0F1B2E"/>
          </a:solidFill>
          <a:ln w="12700">
            <a:solidFill>
              <a:srgbClr val="0F1B2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4572000"/>
            <a:ext cx="2697480" cy="45720"/>
          </a:xfrm>
          <a:prstGeom prst="rect">
            <a:avLst/>
          </a:prstGeom>
          <a:solidFill>
            <a:srgbClr val="B8923A"/>
          </a:solidFill>
          <a:ln w="12700">
            <a:solidFill>
              <a:srgbClr val="B892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47548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ASESORES TARGET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355080" y="507492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1.500 +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(en 4 países)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006840" y="4572000"/>
            <a:ext cx="2697480" cy="1554480"/>
          </a:xfrm>
          <a:prstGeom prst="rect">
            <a:avLst/>
          </a:prstGeom>
          <a:solidFill>
            <a:srgbClr val="0F1B2E"/>
          </a:solidFill>
          <a:ln w="12700">
            <a:solidFill>
              <a:srgbClr val="0F1B2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06840" y="4572000"/>
            <a:ext cx="2697480" cy="45720"/>
          </a:xfrm>
          <a:prstGeom prst="rect">
            <a:avLst/>
          </a:prstGeom>
          <a:solidFill>
            <a:srgbClr val="B8923A"/>
          </a:solidFill>
          <a:ln w="12700">
            <a:solidFill>
              <a:srgbClr val="B892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0" y="47548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SALIDA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144000" y="507492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USD 1.26 M +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19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 · Plan de Etapas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5 · Expansion · Árbol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Cuatro países, una secuencia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Y ALCANCE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consolidado con localizaciones por país: regulatorio, instrumentos locales, integración con brokers locales. Módulo enterprise multi-país. Orden de entrada: Uruguay (Q3 2029, sandbox) → Chile (Q4 2029–Q1 2030, validador) → Brasil (Q2–Q3 2030, apuesta grande) → México (paralelo o post-Brasil).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0080" y="2788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30632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personas con country managers. Heads regionales. Equipo local desde día 1 en Brasil — no se hace con traducción de Google.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" y="3886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&amp; INVERSIÓN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41605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por país adaptado al poder adquisitivo, descuento volumen para boutiques grandes. Promedio mix USD 70/mes consolidado. Series B (USD 15–25M @ 80–120M post-money) o exit estratégico (Zocks, Jump, ALyC grande argentina) — punto de decisión real.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0" y="1554480"/>
            <a:ext cx="5212080" cy="3657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554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GATES DE SALIDA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92240" y="2011680"/>
            <a:ext cx="5120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1.500+ asesores activos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≥ USD 1.26 M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países con presencia activa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Brasil con &gt; 100 asesores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NRR Argentina ≥ 130%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retention multi-país &gt; 90%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SOC2 Type 2 obtenido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LTV/CAC &gt; 3x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financiero validado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0" y="4434840"/>
            <a:ext cx="5212080" cy="365760"/>
          </a:xfrm>
          <a:prstGeom prst="rect">
            <a:avLst/>
          </a:prstGeom>
          <a:solidFill>
            <a:srgbClr val="B8923A"/>
          </a:solidFill>
          <a:ln w="12700">
            <a:solidFill>
              <a:srgbClr val="B892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4434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ANTI-GOALS · LO QUE NO HACEMOS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0" y="489204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de saltar Uruguay y Chile e ir directo a Brasil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de Brasil + México simultáneos en T1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de adquisiciones antes de tener Brasil tractioning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de descuidar Argentina mientras se internacionaliza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19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 · Plan de Etapas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B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Hacia adelante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Próximos pasos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necesitamos resolver antes de arrancar Pre-Seed en mayo 2026.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48640" cy="548640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B6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71600" y="21031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Compromiso de cada hijo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246888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Conversación individual con cada uno (no en grupo). Confirmar adentro / afuera. Vesting 4 años con cliff de 1.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2103120"/>
            <a:ext cx="548640" cy="548640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B6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949440" y="21031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Roles y responsabilidades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49440" y="246888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lidera ingeniería, quién producto, quién ventas. Acuerdo formal por escrito. Honorarios USD 8/h asegurados, lo no cobrado se capitaliza.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383280"/>
            <a:ext cx="548640" cy="548640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B6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371600" y="33832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Estructura legal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37490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Constitución de la SRL/SAS. Acuerdo de socios. Cap table inicial. Asesoramiento legal y contable de SaaS empresa.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3383280"/>
            <a:ext cx="548640" cy="548640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B6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949440" y="33832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Stack técnico definido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49440" y="37490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Python + Next.js/React + Postgres + cloud. Multi-agent con LLMs vía API. Data model alineado a compatibilidad con potencial salida.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4663440"/>
            <a:ext cx="548640" cy="548640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663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B6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371600" y="46634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Lista de design partners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71600" y="50292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 8 productores de Argentina Valores identificados con nombre y apellido para Pre-Seed. Confirmar disposición a pagar y a usar diariamente.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17920" y="4663440"/>
            <a:ext cx="548640" cy="548640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4663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B6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949440" y="46634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OKRs Pre-Seed Q2 2026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949440" y="50292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Bajar la hipótesis central de Pre-Seed a 3–5 OKRs trimestrales con responsables claros. Primer review a 90 días.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19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 · Plan de Etapas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914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B89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3000" dirty="0"/>
          </a:p>
        </p:txBody>
      </p:sp>
      <p:sp>
        <p:nvSpPr>
          <p:cNvPr id="3" name="Text 1"/>
          <p:cNvSpPr/>
          <p:nvPr/>
        </p:nvSpPr>
        <p:spPr>
          <a:xfrm>
            <a:off x="1554480" y="146304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semilla no se vuelve árbol</a:t>
            </a:r>
            <a:endParaRPr lang="en-US" sz="3800" dirty="0"/>
          </a:p>
          <a:p>
            <a:pPr indent="0" marL="0">
              <a:buNone/>
            </a:pPr>
            <a:r>
              <a:rPr lang="en-US" sz="3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porque uno la apure.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1554480" y="32004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D4B6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 vuelve árbol porque alguien la riega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D4B6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todos los días, sabe qué espera de cada estación,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554480" y="42062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D4B6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 resiste la tentación de arrancarla cada vez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D4B6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no ve crecimiento esa semana.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5760720"/>
            <a:ext cx="1371600" cy="0"/>
          </a:xfrm>
          <a:prstGeom prst="line">
            <a:avLst/>
          </a:prstGeom>
          <a:noFill/>
          <a:ln w="25400">
            <a:solidFill>
              <a:srgbClr val="B892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Eso es construir GPI.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 · Plan de Etapas · v2.2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4B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19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GPI — Plan de Etapas</dc:title>
  <dc:subject>PptxGenJS Presentation</dc:subject>
  <dc:creator>Gonzalo</dc:creator>
  <cp:lastModifiedBy>Gonzalo</cp:lastModifiedBy>
  <cp:revision>1</cp:revision>
  <dcterms:created xsi:type="dcterms:W3CDTF">2026-05-09T15:06:24Z</dcterms:created>
  <dcterms:modified xsi:type="dcterms:W3CDTF">2026-05-09T15:06:24Z</dcterms:modified>
</cp:coreProperties>
</file>